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11" Type="http://schemas.openxmlformats.org/officeDocument/2006/relationships/slide" Target="slides/slide1.xml"/>
<Relationship Id="rId12" Type="http://schemas.openxmlformats.org/officeDocument/2006/relationships/slide" Target="slides/slide2.xml"/>
<Relationship Id="rId13" Type="http://schemas.openxmlformats.org/officeDocument/2006/relationships/slide" Target="slides/slide3.xml"/>
<Relationship Id="rId14" Type="http://schemas.openxmlformats.org/officeDocument/2006/relationships/slide" Target="slides/slide4.xml"/>
<Relationship Id="rId15" Type="http://schemas.openxmlformats.org/officeDocument/2006/relationships/slide" Target="slides/slide5.xml"/>
<Relationship Id="rId16" Type="http://schemas.openxmlformats.org/officeDocument/2006/relationships/slide" Target="slides/slide6.xml"/>
<Relationship Id="rId17" Type="http://schemas.openxmlformats.org/officeDocument/2006/relationships/slide" Target="slides/slide7.xml"/>
<Relationship Id="rId18" Type="http://schemas.openxmlformats.org/officeDocument/2006/relationships/slide" Target="slides/slide8.xml"/>
<Relationship Id="rId19" Type="http://schemas.openxmlformats.org/officeDocument/2006/relationships/slide" Target="slides/slide9.xml"/>
<Relationship Id="rId20" Type="http://schemas.openxmlformats.org/officeDocument/2006/relationships/slide" Target="slides/slide10.xml"/>
<Relationship Id="rId21" Type="http://schemas.openxmlformats.org/officeDocument/2006/relationships/slide" Target="slides/slide11.xml"/>
<Relationship Id="rId22" Type="http://schemas.openxmlformats.org/officeDocument/2006/relationships/slide" Target="slides/slide12.xml"/>
<Relationship Id="rId23" Type="http://schemas.openxmlformats.org/officeDocument/2006/relationships/slide" Target="slides/slide13.xml"/>
<Relationship Id="rId24" Type="http://schemas.openxmlformats.org/officeDocument/2006/relationships/slide" Target="slides/slide14.xml"/>
<Relationship Id="rId25" Type="http://schemas.openxmlformats.org/officeDocument/2006/relationships/slide" Target="slides/slide15.xml"/>
<Relationship Id="rId26" Type="http://schemas.openxmlformats.org/officeDocument/2006/relationships/slide" Target="slides/slide16.xml"/>
<Relationship Id="rId27" Type="http://schemas.openxmlformats.org/officeDocument/2006/relationships/slide" Target="slides/slide17.xml"/>
<Relationship Id="rId28" Type="http://schemas.openxmlformats.org/officeDocument/2006/relationships/slide" Target="slides/slide18.xml"/>
<Relationship Id="rId29" Type="http://schemas.openxmlformats.org/officeDocument/2006/relationships/slide" Target="slides/slide19.xml"/>
<Relationship Id="rId30" Type="http://schemas.openxmlformats.org/officeDocument/2006/relationships/slide" Target="slides/slide20.xml"/>
<Relationship Id="rId31" Type="http://schemas.openxmlformats.org/officeDocument/2006/relationships/slide" Target="slides/slide21.xml"/>
<Relationship Id="rId32" Type="http://schemas.openxmlformats.org/officeDocument/2006/relationships/slide" Target="slides/slide22.xml"/>
<Relationship Id="rId33" Type="http://schemas.openxmlformats.org/officeDocument/2006/relationships/slide" Target="slides/slide23.xml"/>
<Relationship Id="rId34" Type="http://schemas.openxmlformats.org/officeDocument/2006/relationships/slide" Target="slides/slide24.xml"/>
<Relationship Id="rId35" Type="http://schemas.openxmlformats.org/officeDocument/2006/relationships/slide" Target="slides/slide25.xml"/>
<Relationship Id="rId36" Type="http://schemas.openxmlformats.org/officeDocument/2006/relationships/slide" Target="slides/slide26.xml"/>
<Relationship Id="rId37" Type="http://schemas.openxmlformats.org/officeDocument/2006/relationships/slide" Target="slides/slide27.xml"/>
<Relationship Id="rId38" Type="http://schemas.openxmlformats.org/officeDocument/2006/relationships/slide" Target="slides/slide28.xml"/>
<Relationship Id="rId39" Type="http://schemas.openxmlformats.org/officeDocument/2006/relationships/slide" Target="slides/slide29.xml"/>
<Relationship Id="rId40" Type="http://schemas.openxmlformats.org/officeDocument/2006/relationships/slide" Target="slides/slide30.xml"/>
<Relationship Id="rId41" Type="http://schemas.openxmlformats.org/officeDocument/2006/relationships/slide" Target="slides/slide31.xml"/>
<Relationship Id="rId42" Type="http://schemas.openxmlformats.org/officeDocument/2006/relationships/slide" Target="slides/slide32.xml"/>
<Relationship Id="rId43" Type="http://schemas.openxmlformats.org/officeDocument/2006/relationships/slide" Target="slides/slide33.xml"/>
<Relationship Id="rId44" Type="http://schemas.openxmlformats.org/officeDocument/2006/relationships/slide" Target="slides/slide34.xml"/>
<Relationship Id="rId45" Type="http://schemas.openxmlformats.org/officeDocument/2006/relationships/slide" Target="slides/slide35.xml"/>
<Relationship Id="rId46" Type="http://schemas.openxmlformats.org/officeDocument/2006/relationships/slide" Target="slides/slide36.xml"/>
<Relationship Id="rId47" Type="http://schemas.openxmlformats.org/officeDocument/2006/relationships/slide" Target="slides/slide37.xml"/>
<Relationship Id="rId48" Type="http://schemas.openxmlformats.org/officeDocument/2006/relationships/slide" Target="slides/slide38.xml"/>
<Relationship Id="rId3" Type="http://schemas.openxmlformats.org/officeDocument/2006/relationships/presProps" Target="presProps.xml"/>
<Relationship Id="rId4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/>
          <a:lstStyle/>
          <a:p>
            <a:r>
              <a:rPr lang="zh-HK"/>
              <a:t>標題</a:t>
            </a:r>
          </a:p>
        </p:txBody>
      </p:sp>
      <p:sp>
        <p:nvSpPr>
          <p:cNvPr id="3" name="Body Placeholder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/>
          <a:lstStyle/>
          <a:p>
            <a:r>
              <a:rPr lang="zh-HK"/>
              <a:t>內容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2800" b="1">
          <a:solidFill>
            <a:srgbClr val="F8FAFC"/>
          </a:solidFill>
          <a:latin typeface="Arial"/>
          <a:ea typeface="PingFang HK"/>
        </a:defRPr>
      </a:lvl1pPr>
    </p:titleStyle>
    <p:bodyStyle>
      <a:lvl1pPr>
        <a:defRPr sz="1400">
          <a:solidFill>
            <a:srgbClr val="E2E8F0"/>
          </a:solidFill>
          <a:latin typeface="Arial"/>
          <a:ea typeface="PingFang HK"/>
        </a:defRPr>
      </a:lvl1pPr>
    </p:bodyStyle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zh-HK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4400" b="1">
                <a:solidFill>
                  <a:srgbClr val="F8FAFC"/>
                </a:solidFill>
              </a:rPr>
              <a:t>CK工程</a:t>
            </a:r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1600" b="1">
                <a:solidFill>
                  <a:srgbClr val="F97316"/>
                </a:solidFill>
              </a:rPr>
              <a:t>取代地盤嘅 WhatsApp + 紙簿 + Excel</a:t>
            </a:r>
          </a:p>
          <a:p>
            <a:pPr>
              <a:buNone/>
            </a:pPr>
            <a:endParaRPr lang="zh-HK" sz="600"/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香港總承建商嘅地盤管理系統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判頭、管工、判頭工人、PM、老總、安全主任 —— 同一個 app 協作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iOS App Store 已上架 · Android 測試中 · 全程 zh-HK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每一個指令、許可證、圖則、進度、問題都記低，唔再散落 WhatsApp 同記性</a:t>
            </a:r>
          </a:p>
          <a:p>
            <a:pPr>
              <a:buNone/>
            </a:pPr>
            <a:endParaRPr lang="zh-HK" sz="600"/>
          </a:p>
          <a:p>
            <a:pPr>
              <a:buNone/>
            </a:pPr>
            <a:r>
              <a:rPr lang="zh-HK" sz="1000" i="1">
                <a:solidFill>
                  <a:srgbClr val="94A3B8"/>
                </a:solidFill>
              </a:rPr>
              <a:t>講者備註 · 開場一句講晒定位：呢個唔係另一個 QS 軟件，係取代你而家用緊嘅 WhatsApp+紙+Excel。強調已經上架、live 緊、繁中。語氣輕鬆啲，當住係同判頭傾偈。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zh-HK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3600" b="1">
                <a:solidFill>
                  <a:srgbClr val="F8FAFC"/>
                </a:solidFill>
              </a:rPr>
              <a:t>今日地盤嘅現實</a:t>
            </a:r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1600" b="1">
                <a:solidFill>
                  <a:srgbClr val="F97316"/>
                </a:solidFill>
              </a:rPr>
              <a:t>資料散晒，出 dispute 嗰陣靠記性</a:t>
            </a:r>
          </a:p>
          <a:p>
            <a:pPr>
              <a:buNone/>
            </a:pPr>
            <a:endParaRPr lang="zh-HK" sz="600"/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由痛點講起 —— 你哋每日都遇到緊</a:t>
            </a:r>
          </a:p>
          <a:p>
            <a:pPr>
              <a:buNone/>
            </a:pPr>
            <a:endParaRPr lang="zh-HK" sz="600"/>
          </a:p>
          <a:p>
            <a:pPr>
              <a:buNone/>
            </a:pPr>
            <a:r>
              <a:rPr lang="zh-HK" sz="1000" i="1">
                <a:solidFill>
                  <a:srgbClr val="94A3B8"/>
                </a:solidFill>
              </a:rPr>
              <a:t>講者備註 · 過場 section slide。停一停，俾觀眾入返情境：佢哋而家點做嘢。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zh-HK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2800" b="1">
                <a:solidFill>
                  <a:srgbClr val="F8FAFC"/>
                </a:solidFill>
              </a:rPr>
              <a:t>WhatsApp + 紙簿 + Excel 嘅三宗罪</a:t>
            </a:r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1600" b="1">
                <a:solidFill>
                  <a:srgbClr val="F97316"/>
                </a:solidFill>
              </a:rPr>
              <a:t>資料散、無記錄、爭拗冇得對數</a:t>
            </a:r>
          </a:p>
          <a:p>
            <a:pPr>
              <a:buNone/>
            </a:pPr>
            <a:endParaRPr lang="zh-HK" sz="600"/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WhatsApp：200 條未讀，問題沉晒底，揾唔返上個月邊個簽嘅動火證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紙簿：落雨整濕、塵蓋住、收唔到 office，出 dispute 揾唔返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Excel：PM 用緊 v3 final FINAL，管工用緊 v1，冇人知邊個啱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口頭指示冇白紙黑字 —— 判頭話『佢叫我做嘅』，但邊個證明到?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圖則版本亂 —— 『邊張先係最新?』成日撞錯舊圖</a:t>
            </a:r>
          </a:p>
          <a:p>
            <a:pPr>
              <a:buNone/>
            </a:pPr>
            <a:endParaRPr lang="zh-HK" sz="600"/>
          </a:p>
          <a:p>
            <a:pPr>
              <a:buNone/>
            </a:pPr>
            <a:r>
              <a:rPr lang="zh-HK" sz="1000" i="1">
                <a:solidFill>
                  <a:srgbClr val="94A3B8"/>
                </a:solidFill>
              </a:rPr>
              <a:t>講者備註 · 三宗罪逐個講。重點唔係話佢哋蠢，而係呢啲工具本身唔係為地盤協作而設。每一條痛點都對應後面一個功能 —— 此刻只負責令佢哋點頭。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zh-HK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2800" b="1">
                <a:solidFill>
                  <a:srgbClr val="F8FAFC"/>
                </a:solidFill>
              </a:rPr>
              <a:t>散亂嘅代價</a:t>
            </a:r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1600" b="1">
                <a:solidFill>
                  <a:srgbClr val="F97316"/>
                </a:solidFill>
              </a:rPr>
              <a:t>每個鐘 PM 唔知地盤點，就係 dispute 嘅土壤</a:t>
            </a:r>
          </a:p>
          <a:p>
            <a:pPr>
              <a:buNone/>
            </a:pPr>
            <a:endParaRPr lang="zh-HK" sz="600"/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HK$50K —— 平均一單 dispute settlement（行業估算）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2 小時 —— PM 每日花喺追管工 daily report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45% —— 工地問題升級之後先發現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結論：唔係冇做嘢，係冇記低 + 冇即時睇到</a:t>
            </a:r>
          </a:p>
          <a:p>
            <a:pPr>
              <a:buNone/>
            </a:pPr>
            <a:endParaRPr lang="zh-HK" sz="600"/>
          </a:p>
          <a:p>
            <a:pPr>
              <a:buNone/>
            </a:pPr>
            <a:r>
              <a:rPr lang="zh-HK" sz="1000" i="1">
                <a:solidFill>
                  <a:srgbClr val="94A3B8"/>
                </a:solidFill>
              </a:rPr>
              <a:t>講者備註 · 用數字 anchor 住痛點嘅成本。呢度先賣『記錄 + 即時可見』嘅價值，唔好太早跳功能。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zh-HK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3600" b="1">
                <a:solidFill>
                  <a:srgbClr val="F8FAFC"/>
                </a:solidFill>
              </a:rPr>
              <a:t>我哋嘅解法</a:t>
            </a:r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1600" b="1">
                <a:solidFill>
                  <a:srgbClr val="F97316"/>
                </a:solidFill>
              </a:rPr>
              <a:t>一個系統，完整審計軌跡</a:t>
            </a:r>
          </a:p>
          <a:p>
            <a:pPr>
              <a:buNone/>
            </a:pPr>
            <a:endParaRPr lang="zh-HK" sz="600"/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唔做你做開嘅 QS —— 做你而家用 WhatsApp 做嘅嘢</a:t>
            </a:r>
          </a:p>
          <a:p>
            <a:pPr>
              <a:buNone/>
            </a:pPr>
            <a:endParaRPr lang="zh-HK" sz="600"/>
          </a:p>
          <a:p>
            <a:pPr>
              <a:buNone/>
            </a:pPr>
            <a:r>
              <a:rPr lang="zh-HK" sz="1000" i="1">
                <a:solidFill>
                  <a:srgbClr val="94A3B8"/>
                </a:solidFill>
              </a:rPr>
              <a:t>講者備註 · 過場。定位金句：唔同 Procore/Cubicost 鬥功能,係取代日常協作工具。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zh-HK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2800" b="1">
                <a:solidFill>
                  <a:srgbClr val="F8FAFC"/>
                </a:solidFill>
              </a:rPr>
              <a:t>一個系統，三件事永遠成立</a:t>
            </a:r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1600" b="1">
                <a:solidFill>
                  <a:srgbClr val="F97316"/>
                </a:solidFill>
              </a:rPr>
              <a:t>共享、自動、留底</a:t>
            </a:r>
          </a:p>
          <a:p>
            <a:pPr>
              <a:buNone/>
            </a:pPr>
            <a:endParaRPr lang="zh-HK" sz="600"/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共享：判頭工人開嘅單,連業主、其他判頭、PM 都即刻見到 —— 一份共同記錄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自動：前線只郁最底層,上層百分比、狀態、升級鏈、總額全部系統計,唔使人手通知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留底：每個指令、許可證、圖則、進度、簽核都帶時間戳同簽名,刪唔到、改唔走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權限即真相：AI 同每個畫面都用你嘅身份(RLS),睇唔到嘅嘢真係攞唔到,唔係前端 hide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出 dispute 嗰陣,你唔需要靠記性 —— 拎條 audit trail 出嚟就得</a:t>
            </a:r>
          </a:p>
          <a:p>
            <a:pPr>
              <a:buNone/>
            </a:pPr>
            <a:endParaRPr lang="zh-HK" sz="600"/>
          </a:p>
          <a:p>
            <a:pPr>
              <a:buNone/>
            </a:pPr>
            <a:r>
              <a:rPr lang="zh-HK" sz="1000" i="1">
                <a:solidFill>
                  <a:srgbClr val="94A3B8"/>
                </a:solidFill>
              </a:rPr>
              <a:t>講者備註 · 呢張係全 deck 嘅 thesis。後面每個功能都係呢三件事(共享/自動/留底)嘅具體化。講完呢張,觀眾應該已經 buy in 個概念,之後只係睇實例。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zh-HK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2800" b="1">
                <a:solidFill>
                  <a:srgbClr val="F8FAFC"/>
                </a:solidFill>
              </a:rPr>
              <a:t>我哋用 4 個真實項目試過</a:t>
            </a:r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1600" b="1">
                <a:solidFill>
                  <a:srgbClr val="F97316"/>
                </a:solidFill>
              </a:rPr>
              <a:t>唔係 demo data —— 模擬咗 4 種地盤,全部跑齊 13 個模組</a:t>
            </a:r>
          </a:p>
          <a:p>
            <a:pPr>
              <a:buNone/>
            </a:pPr>
            <a:endParaRPr lang="zh-HK" sz="600"/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大地盤住宅發展 —— 50 個進度項目,大項/中項/細項三層全鋪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室內裝修工程 —— 33 個進度項目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渠務 / 地下管線 —— 25 個進度項目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屋宇維修保養 —— 26 個進度項目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合共 134 個進度項目,證明撐得住真實規模同唔同工程類型</a:t>
            </a:r>
          </a:p>
          <a:p>
            <a:pPr>
              <a:buNone/>
            </a:pPr>
            <a:endParaRPr lang="zh-HK" sz="600"/>
          </a:p>
          <a:p>
            <a:pPr>
              <a:buNone/>
            </a:pPr>
            <a:r>
              <a:rPr lang="zh-HK" sz="1000" i="1">
                <a:solidFill>
                  <a:srgbClr val="94A3B8"/>
                </a:solidFill>
              </a:rPr>
              <a:t>講者備註 · 呢張係 credibility slide。4 種項目對應 4 個 seed(大地盤/裝修/渠務/維修)。重點:唔同類型嘅工程都 work,規模由細(25)到大(50)都頂得順。134 係四個加埋。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zh-HK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3600" b="1">
                <a:solidFill>
                  <a:srgbClr val="F8FAFC"/>
                </a:solidFill>
              </a:rPr>
              <a:t>核心功能逐個睇</a:t>
            </a:r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1600" b="1">
                <a:solidFill>
                  <a:srgbClr val="F97316"/>
                </a:solidFill>
              </a:rPr>
              <a:t>由前線做嘢,到管理層睇盤</a:t>
            </a:r>
          </a:p>
          <a:p>
            <a:pPr>
              <a:buNone/>
            </a:pPr>
            <a:endParaRPr lang="zh-HK" sz="600"/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13 個模組,以下揀重點講</a:t>
            </a:r>
          </a:p>
          <a:p>
            <a:pPr>
              <a:buNone/>
            </a:pPr>
            <a:endParaRPr lang="zh-HK" sz="600"/>
          </a:p>
          <a:p>
            <a:pPr>
              <a:buNone/>
            </a:pPr>
            <a:r>
              <a:rPr lang="zh-HK" sz="1000" i="1">
                <a:solidFill>
                  <a:srgbClr val="94A3B8"/>
                </a:solidFill>
              </a:rPr>
              <a:t>講者備註 · 過場入功能環節。提一句:進度係核心永遠開,其餘 12 個可以逐個項目剪裁。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zh-HK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2800" b="1">
                <a:solidFill>
                  <a:srgbClr val="F8FAFC"/>
                </a:solidFill>
              </a:rPr>
              <a:t>進度追蹤 —— 大項/中項/細項 + 計劃進度</a:t>
            </a:r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1600" b="1">
                <a:solidFill>
                  <a:srgbClr val="F97316"/>
                </a:solidFill>
              </a:rPr>
              <a:t>唯一關唔到嘅核心模組</a:t>
            </a:r>
          </a:p>
          <a:p>
            <a:pPr>
              <a:buNone/>
            </a:pPr>
            <a:endParaRPr lang="zh-HK" sz="600"/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三層拆解工程,監督層搭骨架,前線只郁最底層細項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自動加總:前線剔細項,上層大項百分比即刻自動跟住變,PM 同老總喺自己部機即見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落後/超前唔使人手填 —— 你只填日期,系統按今日喺工期之間嘅位置線性計(15 日工期到第 3 日 = 應做 20%),相差超過 5% 先標紅落後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每次更新留低歷史(誰/何時/數值/備註)做存證,正正係追數同打官司對數用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判頭工人預設一片空白係正常 —— 要監督層喺工序上委派佢先見到嗰幾條,避免亂</a:t>
            </a:r>
          </a:p>
          <a:p>
            <a:pPr>
              <a:buNone/>
            </a:pPr>
            <a:endParaRPr lang="zh-HK" sz="600"/>
          </a:p>
          <a:p>
            <a:pPr>
              <a:buNone/>
            </a:pPr>
            <a:r>
              <a:rPr lang="zh-HK" sz="1000" i="1">
                <a:solidFill>
                  <a:srgbClr val="94A3B8"/>
                </a:solidFill>
              </a:rPr>
              <a:t>講者備註 · 由最底層功能講起最易明。Demo 時展開到細項層,撳橙色『更新』,睇住上層大項百分比自動變、紅色『落後 X%』標籤。強調自動加總係慳人手嘅核心。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zh-HK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2800" b="1">
                <a:solidFill>
                  <a:srgbClr val="F8FAFC"/>
                </a:solidFill>
              </a:rPr>
              <a:t>問題 —— 報告 + 升級鏈 + 解決/重開</a:t>
            </a:r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1600" b="1">
                <a:solidFill>
                  <a:srgbClr val="F97316"/>
                </a:solidFill>
              </a:rPr>
              <a:t>問題唔會再沉底,一層一層有人接</a:t>
            </a:r>
          </a:p>
          <a:p>
            <a:pPr>
              <a:buNone/>
            </a:pPr>
            <a:endParaRPr lang="zh-HK" sz="600"/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任何已加入成員影相開單,系統按開單者角色自動定第一個處理人(工人開單→判頭處理)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自動路由:唔使揀交俾邊個,系統按你角色就交上一層 —— 少咗 WhatsApp 度問『搵邊個跟』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升級鏈:工人→判頭→總承建商→PM(終點),清晰責任終局,唔會無限上呈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全工地共享:工人開嘅單,業主、其他判頭、PM 即刻見到 —— 共同記錄,避免各自講各自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開單嗰刻角色記低做快照,就算之後轉職,舊單升級路線唔變;任何成員發現未搞掂可重開,記錄全保留</a:t>
            </a:r>
          </a:p>
          <a:p>
            <a:pPr>
              <a:buNone/>
            </a:pPr>
            <a:endParaRPr lang="zh-HK" sz="600"/>
          </a:p>
          <a:p>
            <a:pPr>
              <a:buNone/>
            </a:pPr>
            <a:r>
              <a:rPr lang="zh-HK" sz="1000" i="1">
                <a:solidFill>
                  <a:srgbClr val="94A3B8"/>
                </a:solidFill>
              </a:rPr>
              <a:t>講者備註 · Demo 問題詳情頁:活動時間線(已報告→上呈到總承建商→已解決)+ 上呈/重開掣 + 附相。賣點係『自動路由』同『升級終點清晰』。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zh-HK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2800" b="1">
                <a:solidFill>
                  <a:srgbClr val="F8FAFC"/>
                </a:solidFill>
              </a:rPr>
              <a:t>工地指令 SI —— 口頭指示變鐵證</a:t>
            </a:r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1600" b="1">
                <a:solidFill>
                  <a:srgbClr val="F97316"/>
                </a:solidFill>
              </a:rPr>
              <a:t>有版本、有審批鏈、鎖定後改唔到</a:t>
            </a:r>
          </a:p>
          <a:p>
            <a:pPr>
              <a:buNone/>
            </a:pPr>
            <a:endParaRPr lang="zh-HK" sz="600"/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把口頭工地指示變成正式記錄:系統自動派 SI-001 編號,建立草稿→填內容做版本快照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撳『提交』,簽核鏈定格(預設總承建商→PM),狀態轉審批中,推送第一關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簽核人逐關批准/連修訂批准/退回修訂/拒絕 —— 連簽咗邊個、幾時簽都記低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版本不可改 + 審批記錄只可加唔可改,批錯都刪唔到 —— 打官司同對數用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簽核鏈喺提交一刻凍結,之後改鏈唔影響已提交 SI;最後一關批准自動鎖定,鎖定後只可加『抗議』備註</a:t>
            </a:r>
          </a:p>
          <a:p>
            <a:pPr>
              <a:buNone/>
            </a:pPr>
            <a:endParaRPr lang="zh-HK" sz="600"/>
          </a:p>
          <a:p>
            <a:pPr>
              <a:buNone/>
            </a:pPr>
            <a:r>
              <a:rPr lang="zh-HK" sz="1000" i="1">
                <a:solidFill>
                  <a:srgbClr val="94A3B8"/>
                </a:solidFill>
              </a:rPr>
              <a:t>講者備註 · 核心賣點:口頭→白紙黑字。判頭話『佢叫我做嘅』,SI 就係鐵證。Demo SiDetail 版本歷史 + 審批鏈進度條 + 『已鎖定』標籤。可帶出:一張鎖定 SI 可開出 VO。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zh-HK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2800" b="1">
                <a:solidFill>
                  <a:srgbClr val="F8FAFC"/>
                </a:solidFill>
              </a:rPr>
              <a:t>變更指令 VO —— 涉及錢嘅變更</a:t>
            </a:r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1600" b="1">
                <a:solidFill>
                  <a:srgbClr val="F97316"/>
                </a:solidFill>
              </a:rPr>
              <a:t>系統幫你計到一蚊都唔差(HKD)</a:t>
            </a:r>
          </a:p>
          <a:p>
            <a:pPr>
              <a:buNone/>
            </a:pPr>
            <a:endParaRPr lang="zh-HK" sz="600"/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就工程範圍或合約金額嘅有價變更,逐項列出加項/扣項估價,系統派 VO-001 編號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可引用一張已鎖定 SI 或獨立建立(圖則修訂、口頭指示後補都得),一張 SI 亦可開多張 VO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金額由系統『數量 × 單價』話事,手填總額一律被覆蓋 —— 防止填錯或偷改數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審批鏈多一關業主終批(總承建商→PM→業主)—— 錢嘅嘢一定要業主拍板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全工地透明:金額同批核軌跡公開可審計,連判頭、工人、業主都睇到批到邊一關</a:t>
            </a:r>
          </a:p>
          <a:p>
            <a:pPr>
              <a:buNone/>
            </a:pPr>
            <a:endParaRPr lang="zh-HK" sz="600"/>
          </a:p>
          <a:p>
            <a:pPr>
              <a:buNone/>
            </a:pPr>
            <a:r>
              <a:rPr lang="zh-HK" sz="1000" i="1">
                <a:solidFill>
                  <a:srgbClr val="94A3B8"/>
                </a:solidFill>
              </a:rPr>
              <a:t>講者備註 · VO 比 SI 多一關業主終批,因為涉及錢。Demo VoDetail 估價明細表(逐項小計 + 系統算出總額)+ 三關審批鏈。HKD only 切合香港合約實務。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zh-HK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2800" b="1">
                <a:solidFill>
                  <a:srgbClr val="F8FAFC"/>
                </a:solidFill>
              </a:rPr>
              <a:t>工作許可證 PTW —— 動火/高空/吊運 + QR 核實</a:t>
            </a:r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1600" b="1">
                <a:solidFill>
                  <a:srgbClr val="F97316"/>
                </a:solidFill>
              </a:rPr>
              <a:t>法定許可由紙本電子化</a:t>
            </a:r>
          </a:p>
          <a:p>
            <a:pPr>
              <a:buNone/>
            </a:pPr>
            <a:endParaRPr lang="zh-HK" sz="600"/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高風險工序開工前嘅電子許可證:建立→提交簽核→安全主任/總承建商簽署→生效出 QR 碼→簽名完工關閉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QR 碼現場核實係殺手鐧:工人掃一掃即刻知張證真定假、過唔過期,每次掃描記低做審計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動火嘅 30 分鐘火警監察強制執行 —— 未夠 30 分鐘關唔到,杜絕走捷徑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安全主任係關鍵簽核關,連管理員都唔可以一鍵代批跳過 —— 刻意保留安全把關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示範陷阱:PTW 同 SI/VO 唔同,預設冇鏈,要先喺簽核流程設定設好(建議安全主任→總承建商)至提交得到</a:t>
            </a:r>
          </a:p>
          <a:p>
            <a:pPr>
              <a:buNone/>
            </a:pPr>
            <a:endParaRPr lang="zh-HK" sz="600"/>
          </a:p>
          <a:p>
            <a:pPr>
              <a:buNone/>
            </a:pPr>
            <a:r>
              <a:rPr lang="zh-HK" sz="1000" i="1">
                <a:solidFill>
                  <a:srgbClr val="94A3B8"/>
                </a:solidFill>
              </a:rPr>
              <a:t>講者備註 · 切中香港地盤痛點:動火證、高空、吊運嘅法定許可。Demo PtwDetail『生效中』+ 大 QR 碼 + 有效至時間;或手機掃 QR 後嘅綠標核實結果。記得帶出 PTW 預設冇鏈呢個 demo 陷阱。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zh-HK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2800" b="1">
                <a:solidFill>
                  <a:srgbClr val="F8FAFC"/>
                </a:solidFill>
              </a:rPr>
              <a:t>天氣記錄 / 極端天氣 EOT —— 工期延誤索償</a:t>
            </a:r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1600" b="1">
                <a:solidFill>
                  <a:srgbClr val="F97316"/>
                </a:solidFill>
              </a:rPr>
              <a:t>打風落雨停工 = 實際合約錢</a:t>
            </a:r>
          </a:p>
          <a:p>
            <a:pPr>
              <a:buNone/>
            </a:pPr>
            <a:endParaRPr lang="zh-HK" sz="600"/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三層分清:頁頂實時天文台停工橫額(安全提示,全程開)、全港天氣事件(HKO 公開記錄)、本工地 EOT 申索(你填嘅索償)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天氣事件每約 30 分鐘由 HKO 公開數據自動入(八號風球、黑雨、24 小時雨量超 20mm),唔使人手抄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就惡劣天氣日撳『記錄此日』,填觸發原因/關鍵路徑/可施工/善後日數/申請 EOT 日數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政府 GCC(酌情)同私人合約(客觀觸發)標準唔同,表內有關鍵路徑/可施工欄貼合實務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撳『匯出』出申索 CSV 交工程師/業主審 —— 把 EOT 索償系統化</a:t>
            </a:r>
          </a:p>
          <a:p>
            <a:pPr>
              <a:buNone/>
            </a:pPr>
            <a:endParaRPr lang="zh-HK" sz="600"/>
          </a:p>
          <a:p>
            <a:pPr>
              <a:buNone/>
            </a:pPr>
            <a:r>
              <a:rPr lang="zh-HK" sz="1000" i="1">
                <a:solidFill>
                  <a:srgbClr val="94A3B8"/>
                </a:solidFill>
              </a:rPr>
              <a:t>講者備註 · 香港工地一年好多停工日,EOT 索償係實際錢。重點分清三層(實時橫額/天氣事件/EOT申索):自動出現天氣事件 ≠ 自動開咗 EOT,要主動記錄此日。可帶出 AI 站長都查得到天氣展望。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zh-HK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2800" b="1">
                <a:solidFill>
                  <a:srgbClr val="F8FAFC"/>
                </a:solidFill>
              </a:rPr>
              <a:t>文件 / 圖則版本管理</a:t>
            </a:r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1600" b="1">
                <a:solidFill>
                  <a:srgbClr val="F97316"/>
                </a:solidFill>
              </a:rPr>
              <a:t>邊張先係最新? 一勞永逸</a:t>
            </a:r>
          </a:p>
          <a:p>
            <a:pPr>
              <a:buNone/>
            </a:pPr>
            <a:endParaRPr lang="zh-HK" sz="600"/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圖則 PDF/相片掛喺最底層細項工序上,同進度樹聯動 —— 邊個工序用邊張圖一目了然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撳『上傳新版本』:一個動作完成新版設現行 + 舊版自動轉『已取代』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舊版唔會消失只係標已取代,圖則係不可刪嘅證據 —— 用錯舊圖嘅爭議都查得返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檔案放私有儲存,經臨時連結開啟,非本項目人攞唔到連結 —— 安全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文件登記冊另有 /reviews 跨項目睇待我審批嘅文件</a:t>
            </a:r>
          </a:p>
          <a:p>
            <a:pPr>
              <a:buNone/>
            </a:pPr>
            <a:endParaRPr lang="zh-HK" sz="600"/>
          </a:p>
          <a:p>
            <a:pPr>
              <a:buNone/>
            </a:pPr>
            <a:r>
              <a:rPr lang="zh-HK" sz="1000" i="1">
                <a:solidFill>
                  <a:srgbClr val="94A3B8"/>
                </a:solidFill>
              </a:rPr>
              <a:t>講者備註 · 圖則版本混亂係地盤經典痛點。Demo 細項卡下圖則區:縮圖 + 修訂編號 + 版本歷史(版本2現行/版本1已取代)。Free tier 1GB 可帶出『壓縮上傳/大過5MB警告』嘅儲存預算考量。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zh-HK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2800" b="1">
                <a:solidFill>
                  <a:srgbClr val="F8FAFC"/>
                </a:solidFill>
              </a:rPr>
              <a:t>物料申請 / 到貨</a:t>
            </a:r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1600" b="1">
                <a:solidFill>
                  <a:srgbClr val="F97316"/>
                </a:solidFill>
              </a:rPr>
              <a:t>替代 WhatsApp 度問『啲料到咗未?』</a:t>
            </a:r>
          </a:p>
          <a:p>
            <a:pPr>
              <a:buNone/>
            </a:pPr>
            <a:endParaRPr lang="zh-HK" sz="600"/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判頭或總承建商落單填名、單位、需求量、預計到貨,可剔急件、可連結進度項目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全項目成員睇清單,可按 全部/已申請/部分/已齊/逾期 篩選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狀態係自動計:你只係一次次入貨累加,唔可以亂揀『已齊料』,杜絕填假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逾期紅標即時計(已申請 + 過咗預計到貨),逼住跟進;到貨日自動上行事曆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權限清晰:判頭改唔到人哋開嘅料,只可改自己嗰張(除非係物料主管)</a:t>
            </a:r>
          </a:p>
          <a:p>
            <a:pPr>
              <a:buNone/>
            </a:pPr>
            <a:endParaRPr lang="zh-HK" sz="600"/>
          </a:p>
          <a:p>
            <a:pPr>
              <a:buNone/>
            </a:pPr>
            <a:r>
              <a:rPr lang="zh-HK" sz="1000" i="1">
                <a:solidFill>
                  <a:srgbClr val="94A3B8"/>
                </a:solidFill>
              </a:rPr>
              <a:t>講者備註 · 一個清單睇晒每樣料嘅狀態。Demo MaterialList:物料卡顯示需求量/已到數量/狀態標籤(部分到貨、已齊料、紅色逾期)+ 底部加物料浮動掣。連結進度 + 自動上行事曆係打通賣點。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zh-HK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2800" b="1">
                <a:solidFill>
                  <a:srgbClr val="F8FAFC"/>
                </a:solidFill>
              </a:rPr>
              <a:t>統一行事曆 + 每日工地日誌</a:t>
            </a:r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1600" b="1">
                <a:solidFill>
                  <a:srgbClr val="F97316"/>
                </a:solidFill>
              </a:rPr>
              <a:t>到貨、完工、會議 + 逐日記錄,一個地方睇晒</a:t>
            </a:r>
          </a:p>
          <a:p>
            <a:pPr>
              <a:buNone/>
            </a:pPr>
            <a:endParaRPr lang="zh-HK" sz="600"/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行事曆自動 merge 三來源:物料到貨(藍)、進度計劃完工(綠)、手動會議/驗收/里程碑(紫),唔使重複輸入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進度事件用『計劃完工日』排,代表預計死線,管理層提早睇到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每日日誌:管工或工程師逐日記天氣、做咗嘅進度項目、工地事項,每人每日一份,全項目可見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尋日日誌過咗就永久鎖死,唔可以倒填 —— 保證係當日真實記錄,做 EOT/索償嘅 contemporaneous 證據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權限陷阱:老總/工地主任、判頭、工人都唔可以寫日誌,要總承建商管工或工程師代填(介面有黃色提示)</a:t>
            </a:r>
          </a:p>
          <a:p>
            <a:pPr>
              <a:buNone/>
            </a:pPr>
            <a:endParaRPr lang="zh-HK" sz="600"/>
          </a:p>
          <a:p>
            <a:pPr>
              <a:buNone/>
            </a:pPr>
            <a:r>
              <a:rPr lang="zh-HK" sz="1000" i="1">
                <a:solidFill>
                  <a:srgbClr val="94A3B8"/>
                </a:solidFill>
              </a:rPr>
              <a:t>講者備註 · 兩個聯動模組一齊講(行事曆 + 日誌),因為都係時間軸 + 物料/進度打通。重點:日誌過日鎖死係證據而唔係事後砌;日誌嗰格天氣只係快速標籤,正式 EOT 證據去 weather 模組。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zh-HK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2800" b="1">
                <a:solidFill>
                  <a:srgbClr val="F8FAFC"/>
                </a:solidFill>
              </a:rPr>
              <a:t>機械 / 表格 —— 法定週期檢查 + QR</a:t>
            </a:r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1600" b="1">
                <a:solidFill>
                  <a:srgbClr val="F97316"/>
                </a:solidFill>
              </a:rPr>
              <a:t>吊船、起重機械嘅法定檢查電子化</a:t>
            </a:r>
          </a:p>
          <a:p>
            <a:pPr>
              <a:buNone/>
            </a:pPr>
            <a:endParaRPr lang="zh-HK" sz="600"/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管理工地機械(棚架、挖掘、起重機械、吊船)登記冊,系統派 EQ-001 編號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合資格人士簽法定週期檢查表:逐項剔 checklist、揀結果、簽名板簽名,系統按範本週期計『有效至』,出 A4 法定樣式 PDF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簽署按『資格證』把關唔係按管理權:有資格證嘅工人簽得到,冇資格證嘅 PM 簽唔到(掣灰色講明原因)—— 合規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QR 核實唔受模組開關影響(實體貼紙照用),工人掃 QR 即知部機過唔過期、未簽/到期會出『去簽署』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『不合格』即時令張表停用並通知安全主任同 PM —— 安全閉環</a:t>
            </a:r>
          </a:p>
          <a:p>
            <a:pPr>
              <a:buNone/>
            </a:pPr>
            <a:endParaRPr lang="zh-HK" sz="600"/>
          </a:p>
          <a:p>
            <a:pPr>
              <a:buNone/>
            </a:pPr>
            <a:r>
              <a:rPr lang="zh-HK" sz="1000" i="1">
                <a:solidFill>
                  <a:srgbClr val="94A3B8"/>
                </a:solidFill>
              </a:rPr>
              <a:t>講者備註 · 香港法定週期檢查必做。重點:簽署按資格證唔按管理權呢個合規設計。Demo EquipmentDetail:機械資料 + 檢查表狀態標籤(即將到期/停用)+ QR 碼;或簽署頁 checklist + 簽名板。可帶出同簽名證本人聯動。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zh-HK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2800" b="1">
                <a:solidFill>
                  <a:srgbClr val="F8FAFC"/>
                </a:solidFill>
              </a:rPr>
              <a:t>聯絡人 + 儀表板 + 報告匯出</a:t>
            </a:r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1600" b="1">
                <a:solidFill>
                  <a:srgbClr val="F97316"/>
                </a:solidFill>
              </a:rPr>
              <a:t>電話簿、跨項目總覽、一鍵出報告</a:t>
            </a:r>
          </a:p>
          <a:p>
            <a:pPr>
              <a:buNone/>
            </a:pPr>
            <a:endParaRPr lang="zh-HK" sz="600"/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聯絡人:每個項目嘅行頭電話簿(電工/水喉/紮鐵/棚架),撳一下即刻打,逐個項目獨立唔撈亂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儀表板:管理員/PM 一頁睇晒多個工地總覽 —— 工地總數、進度正常/落後、處理中問題 + 跨項目最近動態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報告匯出:業主版一頁紙(對外 10 秒睇明)/內部版詳細(追數)/例外版(只睇紅嘅延誤落後)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報告自動算『本期 +X%』同白話總結句 —— 唔使人手寫進度報告,原生 App 直接彈分享去 WhatsApp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權限細節:工人/業主都撳到匯出,但份報告只含佢權限內嘅行,睇唔到嘅唔出現 —— 唔會洩漏</a:t>
            </a:r>
          </a:p>
          <a:p>
            <a:pPr>
              <a:buNone/>
            </a:pPr>
            <a:endParaRPr lang="zh-HK" sz="600"/>
          </a:p>
          <a:p>
            <a:pPr>
              <a:buNone/>
            </a:pPr>
            <a:r>
              <a:rPr lang="zh-HK" sz="1000" i="1">
                <a:solidFill>
                  <a:srgbClr val="94A3B8"/>
                </a:solidFill>
              </a:rPr>
              <a:t>講者備註 · 三個管理層 + 雜項功能合併講(聯絡人/儀表板/報告)。儀表板賣點:唔使逐個盤入去 check。報告賣點:業主版一頁紙 send 老闆。落後計法同進度一致(按排程,低過 5% 先當落後)。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zh-HK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2800" b="1">
                <a:solidFill>
                  <a:srgbClr val="F8FAFC"/>
                </a:solidFill>
              </a:rPr>
              <a:t>帳號、加入工地、項目管理 —— 系統嘅地基</a:t>
            </a:r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1600" b="1">
                <a:solidFill>
                  <a:srgbClr val="F97316"/>
                </a:solidFill>
              </a:rPr>
              <a:t>手機號登入 → 申請加入 → 多層審核 → 管理員開盤</a:t>
            </a:r>
          </a:p>
          <a:p>
            <a:pPr>
              <a:buNone/>
            </a:pPr>
            <a:endParaRPr lang="zh-HK" sz="600"/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登入:8 位香港手機號 + 密碼,唔使電郵(背後 synthetic email 行 Supabase Auth,用戶完全唔覺)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登入錯誤永遠只寫『手機號或密碼錯誤』—— 防止陌生人試出邊個號已註冊(防用戶枚舉)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開帳號 ≠ 入到工地:要申請加入 + 俾人批先解鎖內容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三層審批貼合判頭制:PM 批本工地成員、判頭批自己手下工人、管理員兜底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管理員總控台:開盤、分區、指派 PM、設 SI/VO/PTW 簽核鏈、逐個項目開關 13 模組(進度永遠開)</a:t>
            </a:r>
          </a:p>
          <a:p>
            <a:pPr>
              <a:buNone/>
            </a:pPr>
            <a:endParaRPr lang="zh-HK" sz="600"/>
          </a:p>
          <a:p>
            <a:pPr>
              <a:buNone/>
            </a:pPr>
            <a:r>
              <a:rPr lang="zh-HK" sz="1000" i="1">
                <a:solidFill>
                  <a:srgbClr val="94A3B8"/>
                </a:solidFill>
              </a:rPr>
              <a:t>講者備註 · 把 auth-phone-login / apply-approve / project-zone-admin / approval-chain-config 四個基礎設施功能合併。重點:模組開關係差異化賣點(細工地剪裁、大工地全開),背後係 RLS 唔係前端 hide。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zh-HK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3600" b="1">
                <a:solidFill>
                  <a:srgbClr val="F8FAFC"/>
                </a:solidFill>
              </a:rPr>
              <a:t>近期重大升級</a:t>
            </a:r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1600" b="1">
                <a:solidFill>
                  <a:srgbClr val="F97316"/>
                </a:solidFill>
              </a:rPr>
              <a:t>由記錄系統,進化成識諗嘅地盤夥伴</a:t>
            </a:r>
          </a:p>
          <a:p>
            <a:pPr>
              <a:buNone/>
            </a:pPr>
            <a:endParaRPr lang="zh-HK" sz="600"/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AI、天氣、模組、簽名、可靠性 —— 五條線一齊推</a:t>
            </a:r>
          </a:p>
          <a:p>
            <a:pPr>
              <a:buNone/>
            </a:pPr>
            <a:endParaRPr lang="zh-HK" sz="600"/>
          </a:p>
          <a:p>
            <a:pPr>
              <a:buNone/>
            </a:pPr>
            <a:r>
              <a:rPr lang="zh-HK" sz="1000" i="1">
                <a:solidFill>
                  <a:srgbClr val="94A3B8"/>
                </a:solidFill>
              </a:rPr>
              <a:t>講者備註 · 過場入近期升級。語氣轉做『我哋一直喺度加嘢』,顯示產品 momentum。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zh-HK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2800" b="1">
                <a:solidFill>
                  <a:srgbClr val="F8FAFC"/>
                </a:solidFill>
              </a:rPr>
              <a:t>AI 站長 + 記憶圖譜 —— 最大 wow factor</a:t>
            </a:r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1600" b="1">
                <a:solidFill>
                  <a:srgbClr val="F97316"/>
                </a:solidFill>
              </a:rPr>
              <a:t>用粵語問,即刻答(LIVE 行緊 moonshotai/kimi-k2)</a:t>
            </a:r>
          </a:p>
          <a:p>
            <a:pPr>
              <a:buNone/>
            </a:pPr>
            <a:endParaRPr lang="zh-HK" sz="600"/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每個工地一個 AI 助手:問『邊啲工序落後?』『今日有咩物料到?』,AI 串流回覆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安全設計核心:AI 用你嘅身份(RLS),睇唔到你本身睇唔到嘅嘢 —— 判頭問都只見自己嗰份,唔會洩漏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叫 AI 改動(落單/收貨/開問題/改進度/審批)會先彈確認卡(摘要 + 風險 + 要改內容),撳『確認』先做 —— 人手最後把關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記憶圖譜:AI 用 recall_memory 翻查工地歷史筆記,跨對話記得,唔係次次由零開始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判頭叫 AI 批文件會被拒(冇權連工具都唔開)—— 權限同手動操作完全一致;成本封頂,超日預算第二日重設</a:t>
            </a:r>
          </a:p>
          <a:p>
            <a:pPr>
              <a:buNone/>
            </a:pPr>
            <a:endParaRPr lang="zh-HK" sz="600"/>
          </a:p>
          <a:p>
            <a:pPr>
              <a:buNone/>
            </a:pPr>
            <a:r>
              <a:rPr lang="zh-HK" sz="1000" i="1">
                <a:solidFill>
                  <a:srgbClr val="94A3B8"/>
                </a:solidFill>
              </a:rPr>
              <a:t>講者備註 · 全 deck 嘅 wow slide。Demo 用粵語問落後/物料,睇 AI 串流答,再示範一張改動確認卡。三閘要全開(全域 ai_assistant_enabled + 本工地 ai_enabled + 助理模組)。強調 RLS 安全 + 確認卡把關。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zh-HK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2800" b="1">
                <a:solidFill>
                  <a:srgbClr val="F8FAFC"/>
                </a:solidFill>
              </a:rPr>
              <a:t>天氣、模組、簽名 + 多項可靠性修復</a:t>
            </a:r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1600" b="1">
                <a:solidFill>
                  <a:srgbClr val="F97316"/>
                </a:solidFill>
              </a:rPr>
              <a:t>貼合香港實務嘅四條升級線</a:t>
            </a:r>
          </a:p>
          <a:p>
            <a:pPr>
              <a:buNone/>
            </a:pPr>
            <a:endParaRPr lang="zh-HK" sz="600"/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實時天氣 + EOT:頁頂實時天文台停工橫額(全程開)+ 把惡劣天氣日轉成工期延誤索償依據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模組系統:逐個項目開關 13 個模組(進度核心永遠開),背後 RLS 令關咗嘅模組成員攞到零行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簽名證本人:簽 PTW/法定表格可加二步驗證 + 簽名前確認身份,出『簽核證明 PDF』(誰/職位/憑證/何時簽 + 防竄改雜湊鏈)做非抵賴證據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誠實講現狀:簽名前確認身份(sign_reauth_enforced)預設關,目前簽署無感;但簽核證明 PDF 已經用得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多項 ripple 修復:逐個 RLS / workflow 邊界經模擬驗證,確保權限收緊冇副作用</a:t>
            </a:r>
          </a:p>
          <a:p>
            <a:pPr>
              <a:buNone/>
            </a:pPr>
            <a:endParaRPr lang="zh-HK" sz="600"/>
          </a:p>
          <a:p>
            <a:pPr>
              <a:buNone/>
            </a:pPr>
            <a:r>
              <a:rPr lang="zh-HK" sz="1000" i="1">
                <a:solidFill>
                  <a:srgbClr val="94A3B8"/>
                </a:solidFill>
              </a:rPr>
              <a:t>講者備註 · 把 weather / module-system / signature-proof / ripple 修復四條線一齊講。誠實講 sign_reauth 預設關呢點好重要 —— 唔好 oversell,但簽核證明 PDF 已 live。模組系統強調 RLS 唔係前端 hide。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zh-HK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2800" b="1">
                <a:solidFill>
                  <a:srgbClr val="F8FAFC"/>
                </a:solidFill>
              </a:rPr>
              <a:t>模擬結果 —— 唔係空講,係跑過</a:t>
            </a:r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1600" b="1">
                <a:solidFill>
                  <a:srgbClr val="F97316"/>
                </a:solidFill>
              </a:rPr>
              <a:t>4 個真實項目 / 134 個進度項目 / 全部 13 模組已驗證</a:t>
            </a:r>
          </a:p>
          <a:p>
            <a:pPr>
              <a:buNone/>
            </a:pPr>
            <a:endParaRPr lang="zh-HK" sz="600"/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4 個真實項目:大地盤(50)、裝修(33)、渠務(25)、維修(26)—— 唔同類型、唔同規模都頂得順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134 個進度項目鋪滿三層結構,每個項目有跨 13 模組嘅完整 baseline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全部 13 個模組逐個跑過 —— 進度、問題、SI、VO、PTW、天氣、文件、物料、聯絡人、行事曆、日誌、機械、AI 站長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成功同拒絕兩個方向都試:有權嘅做到、冇權嘅被擋,RLS 邊界用真實角色驗證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離線唯讀快取 + 推送限額(每日 3 條防滋擾)亦經模擬確認運作</a:t>
            </a:r>
          </a:p>
          <a:p>
            <a:pPr>
              <a:buNone/>
            </a:pPr>
            <a:endParaRPr lang="zh-HK" sz="600"/>
          </a:p>
          <a:p>
            <a:pPr>
              <a:buNone/>
            </a:pPr>
            <a:r>
              <a:rPr lang="zh-HK" sz="1000" i="1">
                <a:solidFill>
                  <a:srgbClr val="94A3B8"/>
                </a:solidFill>
              </a:rPr>
              <a:t>講者備註 · credibility 高潮。呢度回收前面 4 項目 / 134 項目嘅數字,加埋『13 模組全部驗證』同『成功+拒絕雙向測試』。賣點:我哋唔係 demo data,係用真實角色喺 live backend 跑過。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zh-HK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2800" b="1">
                <a:solidFill>
                  <a:srgbClr val="F8FAFC"/>
                </a:solidFill>
              </a:rPr>
              <a:t>路線圖</a:t>
            </a:r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1600" b="1">
                <a:solidFill>
                  <a:srgbClr val="F97316"/>
                </a:solidFill>
              </a:rPr>
              <a:t>落一步:iOS / Android 重建</a:t>
            </a:r>
          </a:p>
          <a:p>
            <a:pPr>
              <a:buNone/>
            </a:pPr>
            <a:endParaRPr lang="zh-HK" sz="600"/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iOS:已上架 App Store,持續更新,帳號刪除合規已過審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Android:已喺 BlueStacks 驗證,Google Play 開發者身份審批中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下一個 milestone:iOS / Android 原生外殼重建,優化原生體驗同推送可靠性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技術棧鎖定本 milestone 唔重寫(React + TS + Vite + Capacitor + Supabase),專注穩定同打磨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持續按地盤回饋加功能 —— 模組系統令新功能可以逐個項目試,唔影響 live 用戶</a:t>
            </a:r>
          </a:p>
          <a:p>
            <a:pPr>
              <a:buNone/>
            </a:pPr>
            <a:endParaRPr lang="zh-HK" sz="600"/>
          </a:p>
          <a:p>
            <a:pPr>
              <a:buNone/>
            </a:pPr>
            <a:r>
              <a:rPr lang="zh-HK" sz="1000" i="1">
                <a:solidFill>
                  <a:srgbClr val="94A3B8"/>
                </a:solidFill>
              </a:rPr>
              <a:t>講者備註 · roadmap slide。重點係 iOS/Android 重建。語氣務實:技術棧鎖死、backwards compatible、唔會搞爛 live 用戶。模組系統令我哋可以安全試新嘢。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zh-HK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3600" b="1">
                <a:solidFill>
                  <a:srgbClr val="F8FAFC"/>
                </a:solidFill>
              </a:rPr>
              <a:t>多方討論 —— 8 個角色點睇</a:t>
            </a:r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1600" b="1">
                <a:solidFill>
                  <a:srgbClr val="F97316"/>
                </a:solidFill>
              </a:rPr>
              <a:t>唔係我哋講好，係每個崗位自己講</a:t>
            </a:r>
          </a:p>
          <a:p>
            <a:pPr>
              <a:buNone/>
            </a:pPr>
            <a:endParaRPr lang="zh-HK" sz="600"/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由 4 類地盤模擬（大地盤 / 裝修 / 渠務 / 大樓維修）抽返每個角色嘅真實意見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每張 slide：佢嘅心聲 + 👍最啱用 + 💢真實痛點被殺 + 🛠想改善 + ❓想問你</a:t>
            </a:r>
          </a:p>
          <a:p>
            <a:pPr>
              <a:buNone/>
            </a:pPr>
            <a:endParaRPr lang="zh-HK" sz="600"/>
          </a:p>
          <a:p>
            <a:pPr>
              <a:buNone/>
            </a:pPr>
            <a:r>
              <a:rPr lang="zh-HK" sz="1000" i="1">
                <a:solidFill>
                  <a:srgbClr val="94A3B8"/>
                </a:solidFill>
              </a:rPr>
              <a:t>講者備註 · 過場。同觀眾講：跟住落嚟唔係 sell 功能，係逐個崗位企出嚟講佢自己嘅嘢。可以叫返場入面對應崗位嘅人對號入座。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zh-HK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2800" b="1">
                <a:solidFill>
                  <a:srgbClr val="F8FAFC"/>
                </a:solidFill>
              </a:rPr>
              <a:t>項目經理 PM</a:t>
            </a:r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1600" b="1">
                <a:solidFill>
                  <a:srgbClr val="F97316"/>
                </a:solidFill>
              </a:rPr>
              <a:t>我權限最大，跨 4 個地盤都睇到進度同問題</a:t>
            </a:r>
          </a:p>
          <a:p>
            <a:pPr>
              <a:buNone/>
            </a:pPr>
            <a:endParaRPr lang="zh-HK" sz="600"/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👍 最啱用：一鍵匯出 3 種報告（業主版 / 內部版 / 例外版），直接 WhatsApp send 老闆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💢 痛點被殺：以前逐個地盤問判頭、翻 WhatsApp 先砌到份報告 —— 而家一㩒就有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🛠 想改善：業主版要逐個項目整，想一次過跨項目出；有啲 flagship 文件簽核紀錄係空白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❓ 想問你：你寧願每朝睇一個跨地盤總覽，定逐個地盤入去睇？</a:t>
            </a:r>
          </a:p>
          <a:p>
            <a:pPr>
              <a:buNone/>
            </a:pPr>
            <a:endParaRPr lang="zh-HK" sz="600"/>
          </a:p>
          <a:p>
            <a:pPr>
              <a:buNone/>
            </a:pPr>
            <a:r>
              <a:rPr lang="zh-HK" sz="1000" i="1">
                <a:solidFill>
                  <a:srgbClr val="94A3B8"/>
                </a:solidFill>
              </a:rPr>
              <a:t>講者備註 · PM 係日常 power user。重點：報告匯出就係佢留低 app 嘅原因。問題拋出嚟，等做 PM 嗰位答。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zh-HK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2800" b="1">
                <a:solidFill>
                  <a:srgbClr val="F8FAFC"/>
                </a:solidFill>
              </a:rPr>
              <a:t>工地主任 老總（general_foreman）</a:t>
            </a:r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1600" b="1">
                <a:solidFill>
                  <a:srgbClr val="F97316"/>
                </a:solidFill>
              </a:rPr>
              <a:t>我係地盤話事人，但起初好多模組當我透明</a:t>
            </a:r>
          </a:p>
          <a:p>
            <a:pPr>
              <a:buNone/>
            </a:pPr>
            <a:endParaRPr lang="zh-HK" sz="600"/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👍 最啱用：而家寫到施工日誌、郁到問題單、入到物料貨（權限已統一修好）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💢 痛點被殺：以前要靠 PM 代我做、或者打電話落實 —— 而家自己一個 app 搞掂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🛠 想改善：日誌 / 物料 / 問題每個模組權限規則唔同，記唔住邊個做到邊個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❓ 想問你：工地主任應唔應該同 PM 一樣，咩都郁得到？</a:t>
            </a:r>
          </a:p>
          <a:p>
            <a:pPr>
              <a:buNone/>
            </a:pPr>
            <a:endParaRPr lang="zh-HK" sz="600"/>
          </a:p>
          <a:p>
            <a:pPr>
              <a:buNone/>
            </a:pPr>
            <a:r>
              <a:rPr lang="zh-HK" sz="1000" i="1">
                <a:solidFill>
                  <a:srgbClr val="94A3B8"/>
                </a:solidFill>
              </a:rPr>
              <a:t>講者備註 · 老總係最容易被系統忽略嘅角色。承認返呢個係最大不滿、而家修好咗，可信度高。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zh-HK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2800" b="1">
                <a:solidFill>
                  <a:srgbClr val="F8FAFC"/>
                </a:solidFill>
              </a:rPr>
              <a:t>總承建商 main_contractor</a:t>
            </a:r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1600" b="1">
                <a:solidFill>
                  <a:srgbClr val="F97316"/>
                </a:solidFill>
              </a:rPr>
              <a:t>SI→VO 設計變更流程同金額自動計，做得好</a:t>
            </a:r>
          </a:p>
          <a:p>
            <a:pPr>
              <a:buNone/>
            </a:pPr>
            <a:endParaRPr lang="zh-HK" sz="600"/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👍 最啱用：工地指令 SI → 變更單 VO 一條鏈，金額自動計、自動連埋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💢 痛點被殺：以前變更靠口頭 / 紙仔，爭錢嗰陣冇證據 —— 而家成條鏈記晒邊個批、幾時批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🛠 想改善：見到「加物料」掣但入唔到貨（編輯權限同建立權限對唔上，已修）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❓ 想問你：你個 VO 流程，最想系統幫你卡死邊一步？</a:t>
            </a:r>
          </a:p>
          <a:p>
            <a:pPr>
              <a:buNone/>
            </a:pPr>
            <a:endParaRPr lang="zh-HK" sz="600"/>
          </a:p>
          <a:p>
            <a:pPr>
              <a:buNone/>
            </a:pPr>
            <a:r>
              <a:rPr lang="zh-HK" sz="1000" i="1">
                <a:solidFill>
                  <a:srgbClr val="94A3B8"/>
                </a:solidFill>
              </a:rPr>
              <a:t>講者備註 · MC 最在意錢同證據鏈。VO→錢 嘅自動計係硬賣點。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zh-HK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2800" b="1">
                <a:solidFill>
                  <a:srgbClr val="F8FAFC"/>
                </a:solidFill>
              </a:rPr>
              <a:t>判頭 subcontractor</a:t>
            </a:r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1600" b="1">
                <a:solidFill>
                  <a:srgbClr val="F97316"/>
                </a:solidFill>
              </a:rPr>
              <a:t>派俾我嘅工序做到、更新到；睇唔到全貌係正常設計</a:t>
            </a:r>
          </a:p>
          <a:p>
            <a:pPr>
              <a:buNone/>
            </a:pPr>
            <a:endParaRPr lang="zh-HK" sz="600"/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👍 最啱用：物料逾期清單一目了然 + 派俾我嘅工序更新得快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💢 痛點被殺：以前唔知邊批料遲到、邊樣等緊 —— 而家逾期清單自己彈出嚟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🛠 想改善：有啲明明係我落手做嘅工序，系統話我冇權記錄歷史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❓ 想問你：判頭應唔應該睇到全地盤進度，定淨係自己嗰 part？</a:t>
            </a:r>
          </a:p>
          <a:p>
            <a:pPr>
              <a:buNone/>
            </a:pPr>
            <a:endParaRPr lang="zh-HK" sz="600"/>
          </a:p>
          <a:p>
            <a:pPr>
              <a:buNone/>
            </a:pPr>
            <a:r>
              <a:rPr lang="zh-HK" sz="1000" i="1">
                <a:solidFill>
                  <a:srgbClr val="94A3B8"/>
                </a:solidFill>
              </a:rPr>
              <a:t>講者備註 · 判頭關心：派俾我嘅嘢 + 等緊乜料。territory 範圍係刻意收窄，要解釋清楚。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zh-HK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2800" b="1">
                <a:solidFill>
                  <a:srgbClr val="F8FAFC"/>
                </a:solidFill>
              </a:rPr>
              <a:t>判頭工人 worker</a:t>
            </a:r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1600" b="1">
                <a:solidFill>
                  <a:srgbClr val="F97316"/>
                </a:solidFill>
              </a:rPr>
              <a:t>淨係見到派俾我嗰幾條細項，影相報問題好直接</a:t>
            </a:r>
          </a:p>
          <a:p>
            <a:pPr>
              <a:buNone/>
            </a:pPr>
            <a:endParaRPr lang="zh-HK" sz="600"/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👍 最啱用：影相 → 報問題，一兩 tap 搞掂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💢 痛點被殺：以前出事影完相 send 落 WhatsApp group 冇人理、又搵唔返 —— 而家入單有人跟、有紀錄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🛠 想改善：一開始根本冇人派嘢俾我，入到去白茫茫一片乜都做唔到（已派工序）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❓ 想問你：工人界面係咪應該預設淨係得「我嘅嘢 + 影相報問題」兩個掣？</a:t>
            </a:r>
          </a:p>
          <a:p>
            <a:pPr>
              <a:buNone/>
            </a:pPr>
            <a:endParaRPr lang="zh-HK" sz="600"/>
          </a:p>
          <a:p>
            <a:pPr>
              <a:buNone/>
            </a:pPr>
            <a:r>
              <a:rPr lang="zh-HK" sz="1000" i="1">
                <a:solidFill>
                  <a:srgbClr val="94A3B8"/>
                </a:solidFill>
              </a:rPr>
              <a:t>講者備註 · 工人 = 最唔 tech 嘅 user，介面要蠢到唔使學。影相報問題係佢唯一日日用嘅嘢。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zh-HK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2800" b="1">
                <a:solidFill>
                  <a:srgbClr val="F8FAFC"/>
                </a:solidFill>
              </a:rPr>
              <a:t>安全主任 safety_officer</a:t>
            </a:r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1600" b="1">
                <a:solidFill>
                  <a:srgbClr val="F97316"/>
                </a:solidFill>
              </a:rPr>
              <a:t>動火 / 高空 / 吊運證 OK，QR 掃描 + 簽名證明好正</a:t>
            </a:r>
          </a:p>
          <a:p>
            <a:pPr>
              <a:buNone/>
            </a:pPr>
            <a:endParaRPr lang="zh-HK" sz="600"/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👍 最啱用：工作許可證 PTW + 現場 QR 掃描核實 + 電子簽名證本人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💢 痛點被殺：以前許可證紙簽，邊個簽過、幾時到期靠人記 —— 而家系統卡住 + 自動到期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🛠 想改善：密閉空間 / 掘地證起初開唔到（渠務地盤靠呢兩款）+ 氣體測試 O2/H2S/CO/LEL 睇唔到（已修）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❓ 想問你：仲有邊幾款許可證 / 檢查表，你哋日日要用但系統未有？</a:t>
            </a:r>
          </a:p>
          <a:p>
            <a:pPr>
              <a:buNone/>
            </a:pPr>
            <a:endParaRPr lang="zh-HK" sz="600"/>
          </a:p>
          <a:p>
            <a:pPr>
              <a:buNone/>
            </a:pPr>
            <a:r>
              <a:rPr lang="zh-HK" sz="1000" i="1">
                <a:solidFill>
                  <a:srgbClr val="94A3B8"/>
                </a:solidFill>
              </a:rPr>
              <a:t>講者備註 · 安全主任係合規關鍵。PTW + 到期自動化 + 簽名證明係佢嘅核心。掘地/密閉已補返。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zh-HK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2800" b="1">
                <a:solidFill>
                  <a:srgbClr val="F8FAFC"/>
                </a:solidFill>
              </a:rPr>
              <a:t>業主 owner</a:t>
            </a:r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1600" b="1">
                <a:solidFill>
                  <a:srgbClr val="F97316"/>
                </a:solidFill>
              </a:rPr>
              <a:t>我多數唔開 app，淨係收 PM 嗰張一頁紙報告，唯讀，10 秒睇得明</a:t>
            </a:r>
          </a:p>
          <a:p>
            <a:pPr>
              <a:buNone/>
            </a:pPr>
            <a:endParaRPr lang="zh-HK" sz="600"/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👍 最啱用：一頁紙業主版報告，唯讀、唔使學、唔使落地盤都知做到邊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💢 痛點被殺：以前要等 PM 開會 / 打電話先知進度 —— 而家一張紙睇晒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🛠 想改善：EOT 工期延誤申索改唔到（淨係記錄者改到）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❓ 想問你：業主想唔想收 app 通知（又延誤、又超支就 send），定淨係收報告就夠？</a:t>
            </a:r>
          </a:p>
          <a:p>
            <a:pPr>
              <a:buNone/>
            </a:pPr>
            <a:endParaRPr lang="zh-HK" sz="600"/>
          </a:p>
          <a:p>
            <a:pPr>
              <a:buNone/>
            </a:pPr>
            <a:r>
              <a:rPr lang="zh-HK" sz="1000" i="1">
                <a:solidFill>
                  <a:srgbClr val="94A3B8"/>
                </a:solidFill>
              </a:rPr>
              <a:t>講者備註 · 業主係最唔肯學嘢嗰個。賣點就係佢咩都唔使做、收張紙。睇唔到內部細節係刻意。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zh-HK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2800" b="1">
                <a:solidFill>
                  <a:srgbClr val="F8FAFC"/>
                </a:solidFill>
              </a:rPr>
              <a:t>系統管理員 admin</a:t>
            </a:r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1600" b="1">
                <a:solidFill>
                  <a:srgbClr val="F97316"/>
                </a:solidFill>
              </a:rPr>
              <a:t>我開盤、設分區、派 PM、開關 13 個模組</a:t>
            </a:r>
          </a:p>
          <a:p>
            <a:pPr>
              <a:buNone/>
            </a:pPr>
            <a:endParaRPr lang="zh-HK" sz="600"/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👍 最啱用：13 個模組逐個地盤開關 + 防篡改審計 proof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💢 痛點被殺：以前唔同地盤想要唔同功能冇得揀 —— 而家逐盤 on/off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🛠 想改善：防篡改 proof 喺手機（Capacitor）匯出㩒咗冇反應；關咗模組之後有啲數靜靜少計、冇提示（已修）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❓ 想問你：13 個模組會唔會太多？邊幾個係必開、邊幾個其實冇人用？</a:t>
            </a:r>
          </a:p>
          <a:p>
            <a:pPr>
              <a:buNone/>
            </a:pPr>
            <a:endParaRPr lang="zh-HK" sz="600"/>
          </a:p>
          <a:p>
            <a:pPr>
              <a:buNone/>
            </a:pPr>
            <a:r>
              <a:rPr lang="zh-HK" sz="1000" i="1">
                <a:solidFill>
                  <a:srgbClr val="94A3B8"/>
                </a:solidFill>
              </a:rPr>
              <a:t>講者備註 · admin 係買單同 setup 嗰個。模組開關 = 賣俾唔同規模地盤嘅彈性。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zh-HK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3600" b="1">
                <a:solidFill>
                  <a:srgbClr val="F8FAFC"/>
                </a:solidFill>
              </a:rPr>
              <a:t>研討問題 —— 想聽你哋講</a:t>
            </a:r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1600" b="1">
                <a:solidFill>
                  <a:srgbClr val="F97316"/>
                </a:solidFill>
              </a:rPr>
              <a:t>唔係 demo 完散水，係想攞你哋真實 feedback</a:t>
            </a:r>
          </a:p>
          <a:p>
            <a:pPr>
              <a:buNone/>
            </a:pPr>
            <a:endParaRPr lang="zh-HK" sz="600"/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跟住兩張，係留俾你哋答嘅 —— 功能向 + 落地向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邊題啱你崗位就答邊題，無分對錯</a:t>
            </a:r>
          </a:p>
          <a:p>
            <a:pPr>
              <a:buNone/>
            </a:pPr>
            <a:endParaRPr lang="zh-HK" sz="600"/>
          </a:p>
          <a:p>
            <a:pPr>
              <a:buNone/>
            </a:pPr>
            <a:r>
              <a:rPr lang="zh-HK" sz="1000" i="1">
                <a:solidFill>
                  <a:srgbClr val="94A3B8"/>
                </a:solidFill>
              </a:rPr>
              <a:t>講者備註 · 過場。轉場做互動環節。可以即場派紙仔或者開 WhatsApp group 收答案。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zh-HK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2800" b="1">
                <a:solidFill>
                  <a:srgbClr val="F8FAFC"/>
                </a:solidFill>
              </a:rPr>
              <a:t>畀你哋嘅問題（功能向）</a:t>
            </a:r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1600" b="1">
                <a:solidFill>
                  <a:srgbClr val="F97316"/>
                </a:solidFill>
              </a:rPr>
              <a:t>邊樣係剛需、邊樣係多餘？</a:t>
            </a:r>
          </a:p>
          <a:p>
            <a:pPr>
              <a:buNone/>
            </a:pPr>
            <a:endParaRPr lang="zh-HK" sz="600"/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❓ 邊個 function 對你最有用 —— 少咗佢你就唔會用呢個 app？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❓ 你而家最大嘅地盤痛點係咩？呢個系統殺唔殺到？殺到幾多成？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❓ 邊個 function 你覺得你唔會用，或者要大改先用得著？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❓ 有冇咩嘢你日日做、但系統而家完全冇 cover？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❓ 你最唔放心交俾 app 嘅係邊一 part —— 簽名？金額？相？進度數字？</a:t>
            </a:r>
          </a:p>
          <a:p>
            <a:pPr>
              <a:buNone/>
            </a:pPr>
            <a:endParaRPr lang="zh-HK" sz="600"/>
          </a:p>
          <a:p>
            <a:pPr>
              <a:buNone/>
            </a:pPr>
            <a:r>
              <a:rPr lang="zh-HK" sz="1000" i="1">
                <a:solidFill>
                  <a:srgbClr val="94A3B8"/>
                </a:solidFill>
              </a:rPr>
              <a:t>講者備註 · 逐題停低收答案。第 1、3 題最值錢：話我知邊個功能係核心、邊個係 dead weight 可以砍。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zh-HK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2800" b="1">
                <a:solidFill>
                  <a:srgbClr val="F8FAFC"/>
                </a:solidFill>
              </a:rPr>
              <a:t>畀你哋嘅問題（落地向）</a:t>
            </a:r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1600" b="1">
                <a:solidFill>
                  <a:srgbClr val="F97316"/>
                </a:solidFill>
              </a:rPr>
              <a:t>轉用呢個，真實阻力喺邊？</a:t>
            </a:r>
          </a:p>
          <a:p>
            <a:pPr>
              <a:buNone/>
            </a:pPr>
            <a:endParaRPr lang="zh-HK" sz="600"/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❓ 由 WhatsApp + 紙轉用呢個，最大阻力會係邊個崗位？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❓ 邊個崗位最難 onboard（學唔識 / 唔肯用）？點先肯用？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❓ 你肯為咗「審計軌跡、爭拗有證據」放棄幾多「快同方便」？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❓ 收費點計你先覺得抵 —— 逐個地盤？逐個 user？定逐個月？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❓ 邊樣嘢一日未做到，你都唔會全盤轉用？</a:t>
            </a:r>
          </a:p>
          <a:p>
            <a:pPr>
              <a:buNone/>
            </a:pPr>
            <a:endParaRPr lang="zh-HK" sz="600"/>
          </a:p>
          <a:p>
            <a:pPr>
              <a:buNone/>
            </a:pPr>
            <a:r>
              <a:rPr lang="zh-HK" sz="1000" i="1">
                <a:solidFill>
                  <a:srgbClr val="94A3B8"/>
                </a:solidFill>
              </a:rPr>
              <a:t>講者備註 · 呢度係 sales/pricing 情報。第 4 題直接問銷售模式，第 5 題問 deal-breaker。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97316"/>
          </a:solidFill>
        </p:spPr>
        <p:txBody>
          <a:bodyPr/>
          <a:lstStyle/>
          <a:p>
            <a:endParaRPr lang="zh-HK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14300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3600" b="1">
                <a:solidFill>
                  <a:srgbClr val="F97316"/>
                </a:solidFill>
              </a:rPr>
              <a:t>出 dispute 嗰陣,你唔需要靠記性</a:t>
            </a:r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457200" y="1619250"/>
            <a:ext cx="11277600" cy="4857750"/>
          </a:xfrm>
          <a:prstGeom prst="rect">
            <a:avLst/>
          </a:prstGeom>
        </p:spPr>
        <p:txBody>
          <a:bodyPr anchor="t" wrap="square">
            <a:normAutofit/>
          </a:bodyPr>
          <a:lstStyle/>
          <a:p>
            <a:pPr>
              <a:buNone/>
            </a:pPr>
            <a:r>
              <a:rPr lang="zh-HK" sz="1600" b="1">
                <a:solidFill>
                  <a:srgbClr val="F97316"/>
                </a:solidFill>
              </a:rPr>
              <a:t>一個系統,一條完整審計軌跡</a:t>
            </a:r>
          </a:p>
          <a:p>
            <a:pPr>
              <a:buNone/>
            </a:pPr>
            <a:endParaRPr lang="zh-HK" sz="600"/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判頭 + 工地主任永遠知道每個地盤發生緊乜事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每一個指令、許可證、圖則、進度、問題都記低,改唔走、刪唔到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iOS App Store 已上架 · Android 測試中 · 即開 Web 版</a:t>
            </a:r>
          </a:p>
          <a:p>
            <a:pPr marL="285750" indent="-285750">
              <a:buFont typeface="Arial"/>
              <a:buChar char="•"/>
            </a:pPr>
            <a:r>
              <a:rPr lang="zh-HK" sz="1400">
                <a:solidFill>
                  <a:srgbClr val="E2E8F0"/>
                </a:solidFill>
              </a:rPr>
              <a:t>想試?想 demo?想直接傾價? —— 揀一個,我哋當日搵你</a:t>
            </a:r>
          </a:p>
          <a:p>
            <a:pPr>
              <a:buNone/>
            </a:pPr>
            <a:endParaRPr lang="zh-HK" sz="600"/>
          </a:p>
          <a:p>
            <a:pPr>
              <a:buNone/>
            </a:pPr>
            <a:r>
              <a:rPr lang="zh-HK" sz="1000" i="1">
                <a:solidFill>
                  <a:srgbClr val="94A3B8"/>
                </a:solidFill>
              </a:rPr>
              <a:t>講者備註 · 收尾 CTA。回扣開場 thesis(永遠知道 + 審計軌跡)。三個渠道(App Store / Web / demo)。語氣輕鬆收結,留低聯絡。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CK">
  <a:themeElements>
    <a:clrScheme name="CK">
      <a:dk1>
        <a:srgbClr val="0F172A"/>
      </a:dk1>
      <a:lt1>
        <a:srgbClr val="F8FAFC"/>
      </a:lt1>
      <a:dk2>
        <a:srgbClr val="1E293B"/>
      </a:dk2>
      <a:lt2>
        <a:srgbClr val="E2E8F0"/>
      </a:lt2>
      <a:accent1>
        <a:srgbClr val="F97316"/>
      </a:accent1>
      <a:accent2>
        <a:srgbClr val="FB923C"/>
      </a:accent2>
      <a:accent3>
        <a:srgbClr val="94A3B8"/>
      </a:accent3>
      <a:accent4>
        <a:srgbClr val="334155"/>
      </a:accent4>
      <a:accent5>
        <a:srgbClr val="64748B"/>
      </a:accent5>
      <a:accent6>
        <a:srgbClr val="CBD5E1"/>
      </a:accent6>
      <a:hlink>
        <a:srgbClr val="F97316"/>
      </a:hlink>
      <a:folHlink>
        <a:srgbClr val="FB923C"/>
      </a:folHlink>
    </a:clrScheme>
    <a:fontScheme name="CK">
      <a:majorFont>
        <a:latin typeface="Arial"/>
        <a:ea typeface="PingFang HK"/>
        <a:cs typeface=""/>
      </a:majorFont>
      <a:minorFont>
        <a:latin typeface="Arial"/>
        <a:ea typeface="PingFang HK"/>
        <a:cs typeface=""/>
      </a:minorFont>
    </a:fontScheme>
    <a:fmtScheme name="C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